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Arimo" panose="020B0604020202020204" charset="0"/>
      <p:regular r:id="rId11"/>
    </p:embeddedFont>
    <p:embeddedFont>
      <p:font typeface="Outfit Extra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snapToObjects="1">
      <p:cViewPr varScale="1">
        <p:scale>
          <a:sx n="65" d="100"/>
          <a:sy n="65" d="100"/>
        </p:scale>
        <p:origin x="830"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39" d="100"/>
          <a:sy n="39" d="100"/>
        </p:scale>
        <p:origin x="3566" y="8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697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redbus icon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overview of the core technologies used in the project
We'll be using Selenium for web scraping to automate the extraction of data from Redbus, including routes, schedules, and more
The scraped data will be stored in a relational database, allowing us to structure and organize the information
To make the data accessible and interactive, we'll be building a user-friendly interface using Streamlit, enabling dynamic filtering and display of the information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5.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65534"/>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Redbus Data Scraping &amp; Dynamic Filtering</a:t>
            </a:r>
            <a:endParaRPr lang="en-US" sz="4450" dirty="0"/>
          </a:p>
        </p:txBody>
      </p:sp>
      <p:sp>
        <p:nvSpPr>
          <p:cNvPr id="4" name="Text 1"/>
          <p:cNvSpPr/>
          <p:nvPr/>
        </p:nvSpPr>
        <p:spPr>
          <a:xfrm>
            <a:off x="793790" y="4123253"/>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Revolutionizing transportation with data-driven insights. This project automates bus travel data collection, analysis, and visualization from Redbus, enhancing operational efficiency and strategic planning.</a:t>
            </a:r>
            <a:endParaRPr lang="en-US" sz="1750" dirty="0"/>
          </a:p>
        </p:txBody>
      </p:sp>
      <p:sp>
        <p:nvSpPr>
          <p:cNvPr id="5" name="Shape 2"/>
          <p:cNvSpPr/>
          <p:nvPr/>
        </p:nvSpPr>
        <p:spPr>
          <a:xfrm>
            <a:off x="793790" y="5484019"/>
            <a:ext cx="362903" cy="362903"/>
          </a:xfrm>
          <a:prstGeom prst="roundRect">
            <a:avLst>
              <a:gd name="adj" fmla="val 25194296"/>
            </a:avLst>
          </a:prstGeom>
          <a:solidFill>
            <a:srgbClr val="037D9D"/>
          </a:solidFill>
          <a:ln w="7620">
            <a:solidFill>
              <a:srgbClr val="FFFFFF"/>
            </a:solidFill>
            <a:prstDash val="solid"/>
          </a:ln>
        </p:spPr>
      </p:sp>
      <p:sp>
        <p:nvSpPr>
          <p:cNvPr id="6" name="Text 3"/>
          <p:cNvSpPr/>
          <p:nvPr/>
        </p:nvSpPr>
        <p:spPr>
          <a:xfrm>
            <a:off x="902018" y="5616654"/>
            <a:ext cx="146328" cy="97512"/>
          </a:xfrm>
          <a:prstGeom prst="rect">
            <a:avLst/>
          </a:prstGeom>
          <a:noFill/>
          <a:ln/>
        </p:spPr>
        <p:txBody>
          <a:bodyPr wrap="none" lIns="0" tIns="0" rIns="0" bIns="0" rtlCol="0" anchor="t"/>
          <a:lstStyle/>
          <a:p>
            <a:pPr marL="0" indent="0" algn="ctr">
              <a:lnSpc>
                <a:spcPts val="750"/>
              </a:lnSpc>
              <a:buNone/>
            </a:pPr>
            <a:r>
              <a:rPr lang="en-US" sz="750" dirty="0">
                <a:solidFill>
                  <a:srgbClr val="FFFFFF"/>
                </a:solidFill>
                <a:latin typeface="Arimo Medium" pitchFamily="34" charset="0"/>
                <a:ea typeface="Arimo Medium" pitchFamily="34" charset="-122"/>
                <a:cs typeface="Arimo Medium" pitchFamily="34" charset="-120"/>
              </a:rPr>
              <a:t>sm</a:t>
            </a:r>
            <a:endParaRPr lang="en-US" sz="750" dirty="0"/>
          </a:p>
        </p:txBody>
      </p:sp>
      <p:sp>
        <p:nvSpPr>
          <p:cNvPr id="7" name="Text 4"/>
          <p:cNvSpPr/>
          <p:nvPr/>
        </p:nvSpPr>
        <p:spPr>
          <a:xfrm>
            <a:off x="1270040" y="5467112"/>
            <a:ext cx="3165277" cy="396835"/>
          </a:xfrm>
          <a:prstGeom prst="rect">
            <a:avLst/>
          </a:prstGeom>
          <a:noFill/>
          <a:ln/>
        </p:spPr>
        <p:txBody>
          <a:bodyPr wrap="none" lIns="0" tIns="0" rIns="0" bIns="0" rtlCol="0" anchor="t"/>
          <a:lstStyle/>
          <a:p>
            <a:pPr marL="0" indent="0" algn="l">
              <a:lnSpc>
                <a:spcPts val="3100"/>
              </a:lnSpc>
              <a:buNone/>
            </a:pPr>
            <a:r>
              <a:rPr lang="en-US" sz="2200" b="1" dirty="0">
                <a:solidFill>
                  <a:srgbClr val="2A2742"/>
                </a:solidFill>
                <a:latin typeface="Arimo Bold" pitchFamily="34" charset="0"/>
                <a:ea typeface="Arimo Bold" pitchFamily="34" charset="-122"/>
                <a:cs typeface="Arimo Bold" pitchFamily="34" charset="-120"/>
              </a:rPr>
              <a:t>by santhana mariappan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8586"/>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Project Overview &amp; Core Technologies</a:t>
            </a:r>
            <a:endParaRPr lang="en-US" sz="3550" dirty="0"/>
          </a:p>
        </p:txBody>
      </p:sp>
      <p:pic>
        <p:nvPicPr>
          <p:cNvPr id="4" name="Image 1" descr="preencoded.png"/>
          <p:cNvPicPr>
            <a:picLocks noChangeAspect="1"/>
          </p:cNvPicPr>
          <p:nvPr/>
        </p:nvPicPr>
        <p:blipFill>
          <a:blip r:embed="rId4"/>
          <a:stretch>
            <a:fillRect/>
          </a:stretch>
        </p:blipFill>
        <p:spPr>
          <a:xfrm>
            <a:off x="793790" y="2457688"/>
            <a:ext cx="566976" cy="566976"/>
          </a:xfrm>
          <a:prstGeom prst="rect">
            <a:avLst/>
          </a:prstGeom>
        </p:spPr>
      </p:pic>
      <p:sp>
        <p:nvSpPr>
          <p:cNvPr id="5" name="Text 1"/>
          <p:cNvSpPr/>
          <p:nvPr/>
        </p:nvSpPr>
        <p:spPr>
          <a:xfrm>
            <a:off x="1644253" y="2592348"/>
            <a:ext cx="2785943" cy="70866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Web Scraping (Selenium)</a:t>
            </a:r>
            <a:endParaRPr lang="en-US" sz="2200" dirty="0"/>
          </a:p>
        </p:txBody>
      </p:sp>
      <p:sp>
        <p:nvSpPr>
          <p:cNvPr id="6" name="Text 2"/>
          <p:cNvSpPr/>
          <p:nvPr/>
        </p:nvSpPr>
        <p:spPr>
          <a:xfrm>
            <a:off x="1644253" y="3437096"/>
            <a:ext cx="2785943"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Automating data extraction from Redbus for routes, schedules, and more.</a:t>
            </a:r>
            <a:endParaRPr lang="en-US" sz="1750" dirty="0"/>
          </a:p>
        </p:txBody>
      </p:sp>
      <p:pic>
        <p:nvPicPr>
          <p:cNvPr id="7" name="Image 2" descr="preencoded.png"/>
          <p:cNvPicPr>
            <a:picLocks noChangeAspect="1"/>
          </p:cNvPicPr>
          <p:nvPr/>
        </p:nvPicPr>
        <p:blipFill>
          <a:blip r:embed="rId5"/>
          <a:stretch>
            <a:fillRect/>
          </a:stretch>
        </p:blipFill>
        <p:spPr>
          <a:xfrm>
            <a:off x="4713684" y="2457688"/>
            <a:ext cx="566976" cy="566976"/>
          </a:xfrm>
          <a:prstGeom prst="rect">
            <a:avLst/>
          </a:prstGeom>
        </p:spPr>
      </p:pic>
      <p:sp>
        <p:nvSpPr>
          <p:cNvPr id="8" name="Text 3"/>
          <p:cNvSpPr/>
          <p:nvPr/>
        </p:nvSpPr>
        <p:spPr>
          <a:xfrm>
            <a:off x="5564148" y="2592348"/>
            <a:ext cx="2786063"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Data Storage (SQL)</a:t>
            </a:r>
            <a:endParaRPr lang="en-US" sz="2200" dirty="0"/>
          </a:p>
        </p:txBody>
      </p:sp>
      <p:sp>
        <p:nvSpPr>
          <p:cNvPr id="9" name="Text 4"/>
          <p:cNvSpPr/>
          <p:nvPr/>
        </p:nvSpPr>
        <p:spPr>
          <a:xfrm>
            <a:off x="5564148" y="3082766"/>
            <a:ext cx="2786063"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Structuring and storing scraped information in a relational database.</a:t>
            </a:r>
            <a:endParaRPr lang="en-US" sz="1750" dirty="0"/>
          </a:p>
        </p:txBody>
      </p:sp>
      <p:pic>
        <p:nvPicPr>
          <p:cNvPr id="10" name="Image 3" descr="preencoded.png"/>
          <p:cNvPicPr>
            <a:picLocks noChangeAspect="1"/>
          </p:cNvPicPr>
          <p:nvPr/>
        </p:nvPicPr>
        <p:blipFill>
          <a:blip r:embed="rId6"/>
          <a:stretch>
            <a:fillRect/>
          </a:stretch>
        </p:blipFill>
        <p:spPr>
          <a:xfrm>
            <a:off x="793790" y="5092779"/>
            <a:ext cx="566976" cy="566976"/>
          </a:xfrm>
          <a:prstGeom prst="rect">
            <a:avLst/>
          </a:prstGeom>
        </p:spPr>
      </p:pic>
      <p:sp>
        <p:nvSpPr>
          <p:cNvPr id="11" name="Text 5"/>
          <p:cNvSpPr/>
          <p:nvPr/>
        </p:nvSpPr>
        <p:spPr>
          <a:xfrm>
            <a:off x="1644253" y="5227439"/>
            <a:ext cx="2785943" cy="708660"/>
          </a:xfrm>
          <a:prstGeom prst="rect">
            <a:avLst/>
          </a:prstGeom>
          <a:noFill/>
          <a:ln/>
        </p:spPr>
        <p:txBody>
          <a:bodyPr wrap="squar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Interactive App (Streamlit)</a:t>
            </a:r>
            <a:endParaRPr lang="en-US" sz="2200" dirty="0"/>
          </a:p>
        </p:txBody>
      </p:sp>
      <p:sp>
        <p:nvSpPr>
          <p:cNvPr id="12" name="Text 6"/>
          <p:cNvSpPr/>
          <p:nvPr/>
        </p:nvSpPr>
        <p:spPr>
          <a:xfrm>
            <a:off x="1644253" y="6072188"/>
            <a:ext cx="2785943"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Building a user-friendly interface for dynamic data filtering and display.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44836"/>
            <a:ext cx="9248418"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Tackling the Transportation Data Challenge</a:t>
            </a:r>
            <a:endParaRPr lang="en-US" sz="3550" dirty="0"/>
          </a:p>
        </p:txBody>
      </p:sp>
      <p:sp>
        <p:nvSpPr>
          <p:cNvPr id="3" name="Text 1"/>
          <p:cNvSpPr/>
          <p:nvPr/>
        </p:nvSpPr>
        <p:spPr>
          <a:xfrm>
            <a:off x="793790" y="2571036"/>
            <a:ext cx="6924437" cy="1451610"/>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The Redbus project addresses the critical need for comprehensive bus travel data. By automating the extraction of bus routes, schedules, prices, and seat availability, it provides a solution for better decision-making in the transportation sector.</a:t>
            </a:r>
            <a:endParaRPr lang="en-US" sz="1750" dirty="0"/>
          </a:p>
        </p:txBody>
      </p:sp>
      <p:sp>
        <p:nvSpPr>
          <p:cNvPr id="4" name="Text 2"/>
          <p:cNvSpPr/>
          <p:nvPr/>
        </p:nvSpPr>
        <p:spPr>
          <a:xfrm>
            <a:off x="793790" y="4226719"/>
            <a:ext cx="6924437"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This project streamlines data collection and offers powerful tools to improve operational efficiency and strategic planning for various stakeholders.</a:t>
            </a:r>
            <a:endParaRPr lang="en-US" sz="1750" dirty="0"/>
          </a:p>
        </p:txBody>
      </p:sp>
      <p:pic>
        <p:nvPicPr>
          <p:cNvPr id="5" name="Image 0" descr="preencoded.png"/>
          <p:cNvPicPr>
            <a:picLocks noChangeAspect="1"/>
          </p:cNvPicPr>
          <p:nvPr/>
        </p:nvPicPr>
        <p:blipFill>
          <a:blip r:embed="rId3"/>
          <a:stretch>
            <a:fillRect/>
          </a:stretch>
        </p:blipFill>
        <p:spPr>
          <a:xfrm>
            <a:off x="9065538" y="4321959"/>
            <a:ext cx="5564862" cy="3807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98421"/>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Unlocking Business Value: Key Use Cases</a:t>
            </a:r>
            <a:endParaRPr lang="en-US" sz="3550" dirty="0"/>
          </a:p>
        </p:txBody>
      </p:sp>
      <p:pic>
        <p:nvPicPr>
          <p:cNvPr id="4" name="Image 1" descr="preencoded.png"/>
          <p:cNvPicPr>
            <a:picLocks noChangeAspect="1"/>
          </p:cNvPicPr>
          <p:nvPr/>
        </p:nvPicPr>
        <p:blipFill>
          <a:blip r:embed="rId4"/>
          <a:stretch>
            <a:fillRect/>
          </a:stretch>
        </p:blipFill>
        <p:spPr>
          <a:xfrm>
            <a:off x="6280190" y="2087523"/>
            <a:ext cx="1134070" cy="1360884"/>
          </a:xfrm>
          <a:prstGeom prst="rect">
            <a:avLst/>
          </a:prstGeom>
        </p:spPr>
      </p:pic>
      <p:sp>
        <p:nvSpPr>
          <p:cNvPr id="5" name="Text 1"/>
          <p:cNvSpPr/>
          <p:nvPr/>
        </p:nvSpPr>
        <p:spPr>
          <a:xfrm>
            <a:off x="7641074" y="231433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Travel Aggregators</a:t>
            </a:r>
            <a:endParaRPr lang="en-US" sz="2200" dirty="0"/>
          </a:p>
        </p:txBody>
      </p:sp>
      <p:sp>
        <p:nvSpPr>
          <p:cNvPr id="6" name="Text 2"/>
          <p:cNvSpPr/>
          <p:nvPr/>
        </p:nvSpPr>
        <p:spPr>
          <a:xfrm>
            <a:off x="7641074" y="2804755"/>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Real-time schedules and seat availability for customers.</a:t>
            </a:r>
            <a:endParaRPr lang="en-US" sz="1750" dirty="0"/>
          </a:p>
        </p:txBody>
      </p:sp>
      <p:pic>
        <p:nvPicPr>
          <p:cNvPr id="7" name="Image 2" descr="preencoded.png"/>
          <p:cNvPicPr>
            <a:picLocks noChangeAspect="1"/>
          </p:cNvPicPr>
          <p:nvPr/>
        </p:nvPicPr>
        <p:blipFill>
          <a:blip r:embed="rId5"/>
          <a:stretch>
            <a:fillRect/>
          </a:stretch>
        </p:blipFill>
        <p:spPr>
          <a:xfrm>
            <a:off x="6280190" y="3448407"/>
            <a:ext cx="1134070" cy="1360884"/>
          </a:xfrm>
          <a:prstGeom prst="rect">
            <a:avLst/>
          </a:prstGeom>
        </p:spPr>
      </p:pic>
      <p:sp>
        <p:nvSpPr>
          <p:cNvPr id="8" name="Text 3"/>
          <p:cNvSpPr/>
          <p:nvPr/>
        </p:nvSpPr>
        <p:spPr>
          <a:xfrm>
            <a:off x="7641074" y="367522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Market Analysis</a:t>
            </a:r>
            <a:endParaRPr lang="en-US" sz="2200" dirty="0"/>
          </a:p>
        </p:txBody>
      </p:sp>
      <p:sp>
        <p:nvSpPr>
          <p:cNvPr id="9" name="Text 4"/>
          <p:cNvSpPr/>
          <p:nvPr/>
        </p:nvSpPr>
        <p:spPr>
          <a:xfrm>
            <a:off x="7641074" y="4165640"/>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Insights into travel patterns and customer preferences.</a:t>
            </a:r>
            <a:endParaRPr lang="en-US" sz="1750" dirty="0"/>
          </a:p>
        </p:txBody>
      </p:sp>
      <p:pic>
        <p:nvPicPr>
          <p:cNvPr id="10" name="Image 3" descr="preencoded.png"/>
          <p:cNvPicPr>
            <a:picLocks noChangeAspect="1"/>
          </p:cNvPicPr>
          <p:nvPr/>
        </p:nvPicPr>
        <p:blipFill>
          <a:blip r:embed="rId6"/>
          <a:stretch>
            <a:fillRect/>
          </a:stretch>
        </p:blipFill>
        <p:spPr>
          <a:xfrm>
            <a:off x="6280190" y="4809292"/>
            <a:ext cx="1134070" cy="1360884"/>
          </a:xfrm>
          <a:prstGeom prst="rect">
            <a:avLst/>
          </a:prstGeom>
        </p:spPr>
      </p:pic>
      <p:sp>
        <p:nvSpPr>
          <p:cNvPr id="11" name="Text 5"/>
          <p:cNvSpPr/>
          <p:nvPr/>
        </p:nvSpPr>
        <p:spPr>
          <a:xfrm>
            <a:off x="7641074" y="503610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Customer Service</a:t>
            </a:r>
            <a:endParaRPr lang="en-US" sz="2200" dirty="0"/>
          </a:p>
        </p:txBody>
      </p:sp>
      <p:sp>
        <p:nvSpPr>
          <p:cNvPr id="12" name="Text 6"/>
          <p:cNvSpPr/>
          <p:nvPr/>
        </p:nvSpPr>
        <p:spPr>
          <a:xfrm>
            <a:off x="7641074" y="5526524"/>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Personalized travel options based on data insights.</a:t>
            </a:r>
            <a:endParaRPr lang="en-US" sz="1750" dirty="0"/>
          </a:p>
        </p:txBody>
      </p:sp>
      <p:pic>
        <p:nvPicPr>
          <p:cNvPr id="13" name="Image 4" descr="preencoded.png"/>
          <p:cNvPicPr>
            <a:picLocks noChangeAspect="1"/>
          </p:cNvPicPr>
          <p:nvPr/>
        </p:nvPicPr>
        <p:blipFill>
          <a:blip r:embed="rId7"/>
          <a:stretch>
            <a:fillRect/>
          </a:stretch>
        </p:blipFill>
        <p:spPr>
          <a:xfrm>
            <a:off x="6280190" y="6170176"/>
            <a:ext cx="1134070" cy="1360884"/>
          </a:xfrm>
          <a:prstGeom prst="rect">
            <a:avLst/>
          </a:prstGeom>
        </p:spPr>
      </p:pic>
      <p:sp>
        <p:nvSpPr>
          <p:cNvPr id="14" name="Text 7"/>
          <p:cNvSpPr/>
          <p:nvPr/>
        </p:nvSpPr>
        <p:spPr>
          <a:xfrm>
            <a:off x="7641074" y="639699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Competitor Analysis</a:t>
            </a:r>
            <a:endParaRPr lang="en-US" sz="2200" dirty="0"/>
          </a:p>
        </p:txBody>
      </p:sp>
      <p:sp>
        <p:nvSpPr>
          <p:cNvPr id="15" name="Text 8"/>
          <p:cNvSpPr/>
          <p:nvPr/>
        </p:nvSpPr>
        <p:spPr>
          <a:xfrm>
            <a:off x="7641074" y="6887408"/>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Benchmarking pricing and service levels against rivals.</a:t>
            </a:r>
            <a:endParaRPr lang="en-US" sz="1750" dirty="0"/>
          </a:p>
        </p:txBody>
      </p:sp>
      <p:pic>
        <p:nvPicPr>
          <p:cNvPr id="17" name="Graphic 16" descr="Bus with solid fill">
            <a:extLst>
              <a:ext uri="{FF2B5EF4-FFF2-40B4-BE49-F238E27FC236}">
                <a16:creationId xmlns:a16="http://schemas.microsoft.com/office/drawing/2014/main" id="{E73D1134-1B6E-AAE0-051E-38DDAF1630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783443" y="6850618"/>
            <a:ext cx="2940741" cy="20104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43043"/>
          </a:xfrm>
          <a:prstGeom prst="rect">
            <a:avLst/>
          </a:prstGeom>
        </p:spPr>
      </p:pic>
      <p:sp>
        <p:nvSpPr>
          <p:cNvPr id="3" name="Text 0"/>
          <p:cNvSpPr/>
          <p:nvPr/>
        </p:nvSpPr>
        <p:spPr>
          <a:xfrm>
            <a:off x="684014" y="2981444"/>
            <a:ext cx="7705487" cy="488513"/>
          </a:xfrm>
          <a:prstGeom prst="rect">
            <a:avLst/>
          </a:prstGeom>
          <a:noFill/>
          <a:ln/>
        </p:spPr>
        <p:txBody>
          <a:bodyPr wrap="none" lIns="0" tIns="0" rIns="0" bIns="0" rtlCol="0" anchor="t"/>
          <a:lstStyle/>
          <a:p>
            <a:pPr marL="0" indent="0" algn="l">
              <a:lnSpc>
                <a:spcPts val="3800"/>
              </a:lnSpc>
              <a:buNone/>
            </a:pPr>
            <a:r>
              <a:rPr lang="en-US" sz="3050" b="1" dirty="0">
                <a:solidFill>
                  <a:srgbClr val="231971"/>
                </a:solidFill>
                <a:latin typeface="Outfit Extra Bold" pitchFamily="34" charset="0"/>
                <a:ea typeface="Outfit Extra Bold" pitchFamily="34" charset="-122"/>
                <a:cs typeface="Outfit Extra Bold" pitchFamily="34" charset="-120"/>
              </a:rPr>
              <a:t>Our Approach: From Scraping to Streamlit</a:t>
            </a:r>
            <a:endParaRPr lang="en-US" sz="3050" dirty="0"/>
          </a:p>
        </p:txBody>
      </p:sp>
      <p:sp>
        <p:nvSpPr>
          <p:cNvPr id="4" name="Shape 1"/>
          <p:cNvSpPr/>
          <p:nvPr/>
        </p:nvSpPr>
        <p:spPr>
          <a:xfrm>
            <a:off x="684014" y="3982879"/>
            <a:ext cx="6557843" cy="195382"/>
          </a:xfrm>
          <a:prstGeom prst="roundRect">
            <a:avLst>
              <a:gd name="adj" fmla="val 42015"/>
            </a:avLst>
          </a:prstGeom>
          <a:solidFill>
            <a:srgbClr val="E9E6FA"/>
          </a:solidFill>
          <a:ln w="7620">
            <a:solidFill>
              <a:srgbClr val="BDB8DF"/>
            </a:solidFill>
            <a:prstDash val="solid"/>
          </a:ln>
        </p:spPr>
      </p:sp>
      <p:sp>
        <p:nvSpPr>
          <p:cNvPr id="5" name="Text 2"/>
          <p:cNvSpPr/>
          <p:nvPr/>
        </p:nvSpPr>
        <p:spPr>
          <a:xfrm>
            <a:off x="879396" y="4373642"/>
            <a:ext cx="3277433" cy="305395"/>
          </a:xfrm>
          <a:prstGeom prst="rect">
            <a:avLst/>
          </a:prstGeom>
          <a:noFill/>
          <a:ln/>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Data Scraping with Selenium</a:t>
            </a:r>
            <a:endParaRPr lang="en-US" sz="1900" dirty="0"/>
          </a:p>
        </p:txBody>
      </p:sp>
      <p:sp>
        <p:nvSpPr>
          <p:cNvPr id="6" name="Text 3"/>
          <p:cNvSpPr/>
          <p:nvPr/>
        </p:nvSpPr>
        <p:spPr>
          <a:xfrm>
            <a:off x="879396" y="4796195"/>
            <a:ext cx="6167080" cy="625554"/>
          </a:xfrm>
          <a:prstGeom prst="rect">
            <a:avLst/>
          </a:prstGeom>
          <a:noFill/>
          <a:ln/>
        </p:spPr>
        <p:txBody>
          <a:bodyPr wrap="square" lIns="0" tIns="0" rIns="0" bIns="0" rtlCol="0" anchor="t"/>
          <a:lstStyle/>
          <a:p>
            <a:pPr marL="0" indent="0" algn="l">
              <a:lnSpc>
                <a:spcPts val="2450"/>
              </a:lnSpc>
              <a:buNone/>
            </a:pPr>
            <a:r>
              <a:rPr lang="en-US" sz="1500" dirty="0">
                <a:solidFill>
                  <a:srgbClr val="2A2742"/>
                </a:solidFill>
                <a:latin typeface="Arimo" pitchFamily="34" charset="0"/>
                <a:ea typeface="Arimo" pitchFamily="34" charset="-122"/>
                <a:cs typeface="Arimo" pitchFamily="34" charset="-120"/>
              </a:rPr>
              <a:t>Automate the extraction of bus routes, schedules, prices, and seat availability from Redbus.</a:t>
            </a:r>
            <a:endParaRPr lang="en-US" sz="1500" dirty="0"/>
          </a:p>
        </p:txBody>
      </p:sp>
      <p:sp>
        <p:nvSpPr>
          <p:cNvPr id="7" name="Shape 4"/>
          <p:cNvSpPr/>
          <p:nvPr/>
        </p:nvSpPr>
        <p:spPr>
          <a:xfrm>
            <a:off x="7388423" y="3689747"/>
            <a:ext cx="6557963" cy="195382"/>
          </a:xfrm>
          <a:prstGeom prst="roundRect">
            <a:avLst>
              <a:gd name="adj" fmla="val 42015"/>
            </a:avLst>
          </a:prstGeom>
          <a:solidFill>
            <a:srgbClr val="E9E6FA"/>
          </a:solidFill>
          <a:ln w="7620">
            <a:solidFill>
              <a:srgbClr val="BDB8DF"/>
            </a:solidFill>
            <a:prstDash val="solid"/>
          </a:ln>
        </p:spPr>
      </p:sp>
      <p:sp>
        <p:nvSpPr>
          <p:cNvPr id="8" name="Text 5"/>
          <p:cNvSpPr/>
          <p:nvPr/>
        </p:nvSpPr>
        <p:spPr>
          <a:xfrm>
            <a:off x="7583805" y="4080510"/>
            <a:ext cx="2614613" cy="305395"/>
          </a:xfrm>
          <a:prstGeom prst="rect">
            <a:avLst/>
          </a:prstGeom>
          <a:noFill/>
          <a:ln/>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SQL Database Storage</a:t>
            </a:r>
            <a:endParaRPr lang="en-US" sz="1900" dirty="0"/>
          </a:p>
        </p:txBody>
      </p:sp>
      <p:sp>
        <p:nvSpPr>
          <p:cNvPr id="9" name="Text 6"/>
          <p:cNvSpPr/>
          <p:nvPr/>
        </p:nvSpPr>
        <p:spPr>
          <a:xfrm>
            <a:off x="7583805" y="4503063"/>
            <a:ext cx="6167199" cy="625554"/>
          </a:xfrm>
          <a:prstGeom prst="rect">
            <a:avLst/>
          </a:prstGeom>
          <a:noFill/>
          <a:ln/>
        </p:spPr>
        <p:txBody>
          <a:bodyPr wrap="square" lIns="0" tIns="0" rIns="0" bIns="0" rtlCol="0" anchor="t"/>
          <a:lstStyle/>
          <a:p>
            <a:pPr marL="0" indent="0" algn="l">
              <a:lnSpc>
                <a:spcPts val="2450"/>
              </a:lnSpc>
              <a:buNone/>
            </a:pPr>
            <a:r>
              <a:rPr lang="en-US" sz="1500" dirty="0">
                <a:solidFill>
                  <a:srgbClr val="2A2742"/>
                </a:solidFill>
                <a:latin typeface="Arimo" pitchFamily="34" charset="0"/>
                <a:ea typeface="Arimo" pitchFamily="34" charset="-122"/>
                <a:cs typeface="Arimo" pitchFamily="34" charset="-120"/>
              </a:rPr>
              <a:t>Efficiently store the collected data in a structured SQL database for easy retrieval.</a:t>
            </a:r>
            <a:endParaRPr lang="en-US" sz="1500" dirty="0"/>
          </a:p>
        </p:txBody>
      </p:sp>
      <p:sp>
        <p:nvSpPr>
          <p:cNvPr id="10" name="Shape 7"/>
          <p:cNvSpPr/>
          <p:nvPr/>
        </p:nvSpPr>
        <p:spPr>
          <a:xfrm>
            <a:off x="684014" y="6056828"/>
            <a:ext cx="6557843" cy="195382"/>
          </a:xfrm>
          <a:prstGeom prst="roundRect">
            <a:avLst>
              <a:gd name="adj" fmla="val 42015"/>
            </a:avLst>
          </a:prstGeom>
          <a:solidFill>
            <a:srgbClr val="E9E6FA"/>
          </a:solidFill>
          <a:ln w="7620">
            <a:solidFill>
              <a:srgbClr val="BDB8DF"/>
            </a:solidFill>
            <a:prstDash val="solid"/>
          </a:ln>
        </p:spPr>
      </p:sp>
      <p:sp>
        <p:nvSpPr>
          <p:cNvPr id="11" name="Text 8"/>
          <p:cNvSpPr/>
          <p:nvPr/>
        </p:nvSpPr>
        <p:spPr>
          <a:xfrm>
            <a:off x="879396" y="6447592"/>
            <a:ext cx="4026575" cy="305395"/>
          </a:xfrm>
          <a:prstGeom prst="rect">
            <a:avLst/>
          </a:prstGeom>
          <a:noFill/>
          <a:ln/>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Streamlit Application Development</a:t>
            </a:r>
            <a:endParaRPr lang="en-US" sz="1900" dirty="0"/>
          </a:p>
        </p:txBody>
      </p:sp>
      <p:sp>
        <p:nvSpPr>
          <p:cNvPr id="12" name="Text 9"/>
          <p:cNvSpPr/>
          <p:nvPr/>
        </p:nvSpPr>
        <p:spPr>
          <a:xfrm>
            <a:off x="879396" y="6870144"/>
            <a:ext cx="6167080" cy="625554"/>
          </a:xfrm>
          <a:prstGeom prst="rect">
            <a:avLst/>
          </a:prstGeom>
          <a:noFill/>
          <a:ln/>
        </p:spPr>
        <p:txBody>
          <a:bodyPr wrap="square" lIns="0" tIns="0" rIns="0" bIns="0" rtlCol="0" anchor="t"/>
          <a:lstStyle/>
          <a:p>
            <a:pPr marL="0" indent="0" algn="l">
              <a:lnSpc>
                <a:spcPts val="2450"/>
              </a:lnSpc>
              <a:buNone/>
            </a:pPr>
            <a:r>
              <a:rPr lang="en-US" sz="1500" dirty="0">
                <a:solidFill>
                  <a:srgbClr val="2A2742"/>
                </a:solidFill>
                <a:latin typeface="Arimo" pitchFamily="34" charset="0"/>
                <a:ea typeface="Arimo" pitchFamily="34" charset="-122"/>
                <a:cs typeface="Arimo" pitchFamily="34" charset="-120"/>
              </a:rPr>
              <a:t>Create an intuitive application for dynamic display and filtering of scraped bus data.</a:t>
            </a:r>
            <a:endParaRPr lang="en-US" sz="1500" dirty="0"/>
          </a:p>
        </p:txBody>
      </p:sp>
      <p:sp>
        <p:nvSpPr>
          <p:cNvPr id="13" name="Shape 10"/>
          <p:cNvSpPr/>
          <p:nvPr/>
        </p:nvSpPr>
        <p:spPr>
          <a:xfrm>
            <a:off x="7388423" y="5763697"/>
            <a:ext cx="6557963" cy="195382"/>
          </a:xfrm>
          <a:prstGeom prst="roundRect">
            <a:avLst>
              <a:gd name="adj" fmla="val 42015"/>
            </a:avLst>
          </a:prstGeom>
          <a:solidFill>
            <a:srgbClr val="E9E6FA"/>
          </a:solidFill>
          <a:ln w="7620">
            <a:solidFill>
              <a:srgbClr val="BDB8DF"/>
            </a:solidFill>
            <a:prstDash val="solid"/>
          </a:ln>
        </p:spPr>
      </p:sp>
      <p:sp>
        <p:nvSpPr>
          <p:cNvPr id="14" name="Text 11"/>
          <p:cNvSpPr/>
          <p:nvPr/>
        </p:nvSpPr>
        <p:spPr>
          <a:xfrm>
            <a:off x="7583805" y="6154460"/>
            <a:ext cx="2879169" cy="305395"/>
          </a:xfrm>
          <a:prstGeom prst="rect">
            <a:avLst/>
          </a:prstGeom>
          <a:noFill/>
          <a:ln/>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Interactive Data Analysis</a:t>
            </a:r>
            <a:endParaRPr lang="en-US" sz="1900" dirty="0"/>
          </a:p>
        </p:txBody>
      </p:sp>
      <p:sp>
        <p:nvSpPr>
          <p:cNvPr id="15" name="Text 12"/>
          <p:cNvSpPr/>
          <p:nvPr/>
        </p:nvSpPr>
        <p:spPr>
          <a:xfrm>
            <a:off x="7583805" y="6577013"/>
            <a:ext cx="6167199" cy="625554"/>
          </a:xfrm>
          <a:prstGeom prst="rect">
            <a:avLst/>
          </a:prstGeom>
          <a:noFill/>
          <a:ln/>
        </p:spPr>
        <p:txBody>
          <a:bodyPr wrap="square" lIns="0" tIns="0" rIns="0" bIns="0" rtlCol="0" anchor="t"/>
          <a:lstStyle/>
          <a:p>
            <a:pPr marL="0" indent="0" algn="l">
              <a:lnSpc>
                <a:spcPts val="2450"/>
              </a:lnSpc>
              <a:buNone/>
            </a:pPr>
            <a:r>
              <a:rPr lang="en-US" sz="1500" dirty="0">
                <a:solidFill>
                  <a:srgbClr val="2A2742"/>
                </a:solidFill>
                <a:latin typeface="Arimo" pitchFamily="34" charset="0"/>
                <a:ea typeface="Arimo" pitchFamily="34" charset="-122"/>
                <a:cs typeface="Arimo" pitchFamily="34" charset="-120"/>
              </a:rPr>
              <a:t>Enable users to filter data by bus type, route, price, rating, and availability using SQL queries.</a:t>
            </a:r>
            <a:endParaRPr lang="en-US" sz="1500" dirty="0"/>
          </a:p>
        </p:txBody>
      </p:sp>
      <p:pic>
        <p:nvPicPr>
          <p:cNvPr id="17" name="Graphic 16" descr="Bus with solid fill">
            <a:extLst>
              <a:ext uri="{FF2B5EF4-FFF2-40B4-BE49-F238E27FC236}">
                <a16:creationId xmlns:a16="http://schemas.microsoft.com/office/drawing/2014/main" id="{391E1B01-A893-F074-E0E5-2D3586D042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33385" y="6870144"/>
            <a:ext cx="2602523" cy="19338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05401"/>
            <a:ext cx="5779175"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Key Data Fields &amp; Structure</a:t>
            </a:r>
            <a:endParaRPr lang="en-US" sz="3550" dirty="0"/>
          </a:p>
        </p:txBody>
      </p:sp>
      <p:sp>
        <p:nvSpPr>
          <p:cNvPr id="3" name="Text 1"/>
          <p:cNvSpPr/>
          <p:nvPr/>
        </p:nvSpPr>
        <p:spPr>
          <a:xfrm>
            <a:off x="793790" y="2331601"/>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The scraped dataset from Redbus includes comprehensive information vital for travelers and service providers. Key fields capture essential details for each bus service:</a:t>
            </a:r>
            <a:endParaRPr lang="en-US" sz="1750" dirty="0"/>
          </a:p>
        </p:txBody>
      </p:sp>
      <p:sp>
        <p:nvSpPr>
          <p:cNvPr id="4" name="Text 2"/>
          <p:cNvSpPr/>
          <p:nvPr/>
        </p:nvSpPr>
        <p:spPr>
          <a:xfrm>
            <a:off x="793790" y="362438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Bus Routes Name &amp; Link:</a:t>
            </a:r>
            <a:r>
              <a:rPr lang="en-US" sz="1750" dirty="0">
                <a:solidFill>
                  <a:srgbClr val="2A2742"/>
                </a:solidFill>
                <a:latin typeface="Arimo" pitchFamily="34" charset="0"/>
                <a:ea typeface="Arimo" pitchFamily="34" charset="-122"/>
                <a:cs typeface="Arimo" pitchFamily="34" charset="-120"/>
              </a:rPr>
              <a:t> Start/end locations and detailed links.</a:t>
            </a:r>
            <a:endParaRPr lang="en-US" sz="1750" dirty="0"/>
          </a:p>
        </p:txBody>
      </p:sp>
      <p:sp>
        <p:nvSpPr>
          <p:cNvPr id="5" name="Text 3"/>
          <p:cNvSpPr/>
          <p:nvPr/>
        </p:nvSpPr>
        <p:spPr>
          <a:xfrm>
            <a:off x="793790" y="442948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Bus Name &amp; Type:</a:t>
            </a:r>
            <a:r>
              <a:rPr lang="en-US" sz="1750" dirty="0">
                <a:solidFill>
                  <a:srgbClr val="2A2742"/>
                </a:solidFill>
                <a:latin typeface="Arimo" pitchFamily="34" charset="0"/>
                <a:ea typeface="Arimo" pitchFamily="34" charset="-122"/>
                <a:cs typeface="Arimo" pitchFamily="34" charset="-120"/>
              </a:rPr>
              <a:t> Operator identification and seating configuration.</a:t>
            </a:r>
            <a:endParaRPr lang="en-US" sz="1750" dirty="0"/>
          </a:p>
        </p:txBody>
      </p:sp>
      <p:sp>
        <p:nvSpPr>
          <p:cNvPr id="6" name="Text 4"/>
          <p:cNvSpPr/>
          <p:nvPr/>
        </p:nvSpPr>
        <p:spPr>
          <a:xfrm>
            <a:off x="793790" y="523458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Time &amp; Duration:</a:t>
            </a:r>
            <a:r>
              <a:rPr lang="en-US" sz="1750" dirty="0">
                <a:solidFill>
                  <a:srgbClr val="2A2742"/>
                </a:solidFill>
                <a:latin typeface="Arimo" pitchFamily="34" charset="0"/>
                <a:ea typeface="Arimo" pitchFamily="34" charset="-122"/>
                <a:cs typeface="Arimo" pitchFamily="34" charset="-120"/>
              </a:rPr>
              <a:t> Scheduled departure, arrival, and journey length.</a:t>
            </a:r>
            <a:endParaRPr lang="en-US" sz="1750" dirty="0"/>
          </a:p>
        </p:txBody>
      </p:sp>
      <p:sp>
        <p:nvSpPr>
          <p:cNvPr id="7" name="Text 5"/>
          <p:cNvSpPr/>
          <p:nvPr/>
        </p:nvSpPr>
        <p:spPr>
          <a:xfrm>
            <a:off x="793790" y="60396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Star Rating &amp; Price:</a:t>
            </a:r>
            <a:r>
              <a:rPr lang="en-US" sz="1750" dirty="0">
                <a:solidFill>
                  <a:srgbClr val="2A2742"/>
                </a:solidFill>
                <a:latin typeface="Arimo" pitchFamily="34" charset="0"/>
                <a:ea typeface="Arimo" pitchFamily="34" charset="-122"/>
                <a:cs typeface="Arimo" pitchFamily="34" charset="-120"/>
              </a:rPr>
              <a:t> Quality indication and ticket cost.</a:t>
            </a:r>
            <a:endParaRPr lang="en-US" sz="1750" dirty="0"/>
          </a:p>
        </p:txBody>
      </p:sp>
      <p:sp>
        <p:nvSpPr>
          <p:cNvPr id="8" name="Text 6"/>
          <p:cNvSpPr/>
          <p:nvPr/>
        </p:nvSpPr>
        <p:spPr>
          <a:xfrm>
            <a:off x="793790" y="648188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A2742"/>
                </a:solidFill>
                <a:latin typeface="Arimo" pitchFamily="34" charset="0"/>
                <a:ea typeface="Arimo" pitchFamily="34" charset="-122"/>
                <a:cs typeface="Arimo" pitchFamily="34" charset="-120"/>
              </a:rPr>
              <a:t>Seat Availability:</a:t>
            </a:r>
            <a:r>
              <a:rPr lang="en-US" sz="1750" dirty="0">
                <a:solidFill>
                  <a:srgbClr val="2A2742"/>
                </a:solidFill>
                <a:latin typeface="Arimo" pitchFamily="34" charset="0"/>
                <a:ea typeface="Arimo" pitchFamily="34" charset="-122"/>
                <a:cs typeface="Arimo" pitchFamily="34" charset="-120"/>
              </a:rPr>
              <a:t> Real-time occupancy levels.</a:t>
            </a:r>
            <a:endParaRPr lang="en-US" sz="1750" dirty="0"/>
          </a:p>
        </p:txBody>
      </p:sp>
      <p:pic>
        <p:nvPicPr>
          <p:cNvPr id="9" name="Image 0" descr="preencoded.png"/>
          <p:cNvPicPr>
            <a:picLocks noChangeAspect="1"/>
          </p:cNvPicPr>
          <p:nvPr/>
        </p:nvPicPr>
        <p:blipFill>
          <a:blip r:embed="rId3"/>
          <a:stretch>
            <a:fillRect/>
          </a:stretch>
        </p:blipFill>
        <p:spPr>
          <a:xfrm>
            <a:off x="7599521" y="2382679"/>
            <a:ext cx="6244709" cy="4272677"/>
          </a:xfrm>
          <a:prstGeom prst="rect">
            <a:avLst/>
          </a:prstGeom>
        </p:spPr>
      </p:pic>
      <p:pic>
        <p:nvPicPr>
          <p:cNvPr id="11" name="Graphic 10" descr="Bus with solid fill">
            <a:extLst>
              <a:ext uri="{FF2B5EF4-FFF2-40B4-BE49-F238E27FC236}">
                <a16:creationId xmlns:a16="http://schemas.microsoft.com/office/drawing/2014/main" id="{3139550F-E11B-CB53-963B-8F4E4A342E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16154" y="7092462"/>
            <a:ext cx="2614246" cy="15357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9020" y="738068"/>
            <a:ext cx="6409730" cy="520660"/>
          </a:xfrm>
          <a:prstGeom prst="rect">
            <a:avLst/>
          </a:prstGeom>
          <a:noFill/>
          <a:ln/>
        </p:spPr>
        <p:txBody>
          <a:bodyPr wrap="none" lIns="0" tIns="0" rIns="0" bIns="0" rtlCol="0" anchor="t"/>
          <a:lstStyle/>
          <a:p>
            <a:pPr marL="0" indent="0" algn="l">
              <a:lnSpc>
                <a:spcPts val="4100"/>
              </a:lnSpc>
              <a:buNone/>
            </a:pPr>
            <a:r>
              <a:rPr lang="en-US" sz="3250" b="1" dirty="0">
                <a:solidFill>
                  <a:srgbClr val="231971"/>
                </a:solidFill>
                <a:latin typeface="Outfit Extra Bold" pitchFamily="34" charset="0"/>
                <a:ea typeface="Outfit Extra Bold" pitchFamily="34" charset="-122"/>
                <a:cs typeface="Outfit Extra Bold" pitchFamily="34" charset="-120"/>
              </a:rPr>
              <a:t>Expected Outcomes &amp; Evaluation</a:t>
            </a:r>
            <a:endParaRPr lang="en-US" sz="3250" dirty="0"/>
          </a:p>
        </p:txBody>
      </p:sp>
      <p:sp>
        <p:nvSpPr>
          <p:cNvPr id="4" name="Text 1"/>
          <p:cNvSpPr/>
          <p:nvPr/>
        </p:nvSpPr>
        <p:spPr>
          <a:xfrm>
            <a:off x="729020" y="1831419"/>
            <a:ext cx="3588901" cy="687348"/>
          </a:xfrm>
          <a:prstGeom prst="rect">
            <a:avLst/>
          </a:prstGeom>
          <a:noFill/>
          <a:ln/>
        </p:spPr>
        <p:txBody>
          <a:bodyPr wrap="none" lIns="0" tIns="0" rIns="0" bIns="0" rtlCol="0" anchor="t"/>
          <a:lstStyle/>
          <a:p>
            <a:pPr marL="0" indent="0" algn="ctr">
              <a:lnSpc>
                <a:spcPts val="5400"/>
              </a:lnSpc>
              <a:buNone/>
            </a:pPr>
            <a:r>
              <a:rPr lang="en-US" sz="5400" b="1" dirty="0">
                <a:solidFill>
                  <a:srgbClr val="2A2742"/>
                </a:solidFill>
                <a:latin typeface="Outfit Extra Bold" pitchFamily="34" charset="0"/>
                <a:ea typeface="Outfit Extra Bold" pitchFamily="34" charset="-122"/>
                <a:cs typeface="Outfit Extra Bold" pitchFamily="34" charset="-120"/>
              </a:rPr>
              <a:t>10+</a:t>
            </a:r>
            <a:endParaRPr lang="en-US" sz="5400" dirty="0"/>
          </a:p>
        </p:txBody>
      </p:sp>
      <p:sp>
        <p:nvSpPr>
          <p:cNvPr id="5" name="Text 2"/>
          <p:cNvSpPr/>
          <p:nvPr/>
        </p:nvSpPr>
        <p:spPr>
          <a:xfrm>
            <a:off x="729020" y="2779038"/>
            <a:ext cx="3588901" cy="666750"/>
          </a:xfrm>
          <a:prstGeom prst="rect">
            <a:avLst/>
          </a:prstGeom>
          <a:noFill/>
          <a:ln/>
        </p:spPr>
        <p:txBody>
          <a:bodyPr wrap="square" lIns="0" tIns="0" rIns="0" bIns="0" rtlCol="0" anchor="t"/>
          <a:lstStyle/>
          <a:p>
            <a:pPr marL="0" indent="0" algn="ctr">
              <a:lnSpc>
                <a:spcPts val="2600"/>
              </a:lnSpc>
              <a:buNone/>
            </a:pPr>
            <a:r>
              <a:rPr lang="en-US" sz="1600" dirty="0">
                <a:solidFill>
                  <a:srgbClr val="2A2742"/>
                </a:solidFill>
                <a:latin typeface="Arimo" pitchFamily="34" charset="0"/>
                <a:ea typeface="Arimo" pitchFamily="34" charset="-122"/>
                <a:cs typeface="Arimo" pitchFamily="34" charset="-120"/>
              </a:rPr>
              <a:t>Government &amp; Private Bus Data Scraped</a:t>
            </a:r>
            <a:endParaRPr lang="en-US" sz="1600" dirty="0"/>
          </a:p>
        </p:txBody>
      </p:sp>
      <p:sp>
        <p:nvSpPr>
          <p:cNvPr id="6" name="Text 3"/>
          <p:cNvSpPr/>
          <p:nvPr/>
        </p:nvSpPr>
        <p:spPr>
          <a:xfrm>
            <a:off x="729020" y="4070509"/>
            <a:ext cx="3588901" cy="687348"/>
          </a:xfrm>
          <a:prstGeom prst="rect">
            <a:avLst/>
          </a:prstGeom>
          <a:noFill/>
          <a:ln/>
        </p:spPr>
        <p:txBody>
          <a:bodyPr wrap="none" lIns="0" tIns="0" rIns="0" bIns="0" rtlCol="0" anchor="t"/>
          <a:lstStyle/>
          <a:p>
            <a:pPr marL="0" indent="0" algn="ctr">
              <a:lnSpc>
                <a:spcPts val="5400"/>
              </a:lnSpc>
              <a:buNone/>
            </a:pPr>
            <a:r>
              <a:rPr lang="en-US" sz="5400" b="1" dirty="0">
                <a:solidFill>
                  <a:srgbClr val="2A2742"/>
                </a:solidFill>
                <a:latin typeface="Outfit Extra Bold" pitchFamily="34" charset="0"/>
                <a:ea typeface="Outfit Extra Bold" pitchFamily="34" charset="-122"/>
                <a:cs typeface="Outfit Extra Bold" pitchFamily="34" charset="-120"/>
              </a:rPr>
              <a:t>SQL</a:t>
            </a:r>
            <a:endParaRPr lang="en-US" sz="5400" dirty="0"/>
          </a:p>
        </p:txBody>
      </p:sp>
      <p:sp>
        <p:nvSpPr>
          <p:cNvPr id="7" name="Text 4"/>
          <p:cNvSpPr/>
          <p:nvPr/>
        </p:nvSpPr>
        <p:spPr>
          <a:xfrm>
            <a:off x="729020" y="5018127"/>
            <a:ext cx="3588901" cy="333375"/>
          </a:xfrm>
          <a:prstGeom prst="rect">
            <a:avLst/>
          </a:prstGeom>
          <a:noFill/>
          <a:ln/>
        </p:spPr>
        <p:txBody>
          <a:bodyPr wrap="none" lIns="0" tIns="0" rIns="0" bIns="0" rtlCol="0" anchor="t"/>
          <a:lstStyle/>
          <a:p>
            <a:pPr marL="0" indent="0" algn="ctr">
              <a:lnSpc>
                <a:spcPts val="2600"/>
              </a:lnSpc>
              <a:buNone/>
            </a:pPr>
            <a:r>
              <a:rPr lang="en-US" sz="1600" dirty="0">
                <a:solidFill>
                  <a:srgbClr val="2A2742"/>
                </a:solidFill>
                <a:latin typeface="Arimo" pitchFamily="34" charset="0"/>
                <a:ea typeface="Arimo" pitchFamily="34" charset="-122"/>
                <a:cs typeface="Arimo" pitchFamily="34" charset="-120"/>
              </a:rPr>
              <a:t>Structured Database for Data Storage</a:t>
            </a:r>
            <a:endParaRPr lang="en-US" sz="1600" dirty="0"/>
          </a:p>
        </p:txBody>
      </p:sp>
      <p:sp>
        <p:nvSpPr>
          <p:cNvPr id="8" name="Text 5"/>
          <p:cNvSpPr/>
          <p:nvPr/>
        </p:nvSpPr>
        <p:spPr>
          <a:xfrm>
            <a:off x="729020" y="5976223"/>
            <a:ext cx="3588901" cy="687348"/>
          </a:xfrm>
          <a:prstGeom prst="rect">
            <a:avLst/>
          </a:prstGeom>
          <a:noFill/>
          <a:ln/>
        </p:spPr>
        <p:txBody>
          <a:bodyPr wrap="none" lIns="0" tIns="0" rIns="0" bIns="0" rtlCol="0" anchor="t"/>
          <a:lstStyle/>
          <a:p>
            <a:pPr marL="0" indent="0" algn="ctr">
              <a:lnSpc>
                <a:spcPts val="5400"/>
              </a:lnSpc>
              <a:buNone/>
            </a:pPr>
            <a:r>
              <a:rPr lang="en-US" sz="5400" b="1" dirty="0">
                <a:solidFill>
                  <a:srgbClr val="2A2742"/>
                </a:solidFill>
                <a:latin typeface="Outfit Extra Bold" pitchFamily="34" charset="0"/>
                <a:ea typeface="Outfit Extra Bold" pitchFamily="34" charset="-122"/>
                <a:cs typeface="Outfit Extra Bold" pitchFamily="34" charset="-120"/>
              </a:rPr>
              <a:t>User-Friendly</a:t>
            </a:r>
            <a:endParaRPr lang="en-US" sz="5400" dirty="0"/>
          </a:p>
        </p:txBody>
      </p:sp>
      <p:sp>
        <p:nvSpPr>
          <p:cNvPr id="9" name="Text 6"/>
          <p:cNvSpPr/>
          <p:nvPr/>
        </p:nvSpPr>
        <p:spPr>
          <a:xfrm>
            <a:off x="729020" y="6923842"/>
            <a:ext cx="3588901" cy="333375"/>
          </a:xfrm>
          <a:prstGeom prst="rect">
            <a:avLst/>
          </a:prstGeom>
          <a:noFill/>
          <a:ln/>
        </p:spPr>
        <p:txBody>
          <a:bodyPr wrap="none" lIns="0" tIns="0" rIns="0" bIns="0" rtlCol="0" anchor="t"/>
          <a:lstStyle/>
          <a:p>
            <a:pPr marL="0" indent="0" algn="ctr">
              <a:lnSpc>
                <a:spcPts val="2600"/>
              </a:lnSpc>
              <a:buNone/>
            </a:pPr>
            <a:r>
              <a:rPr lang="en-US" sz="1600" dirty="0">
                <a:solidFill>
                  <a:srgbClr val="2A2742"/>
                </a:solidFill>
                <a:latin typeface="Arimo" pitchFamily="34" charset="0"/>
                <a:ea typeface="Arimo" pitchFamily="34" charset="-122"/>
                <a:cs typeface="Arimo" pitchFamily="34" charset="-120"/>
              </a:rPr>
              <a:t>Interactive Streamlit Application</a:t>
            </a:r>
            <a:endParaRPr lang="en-US" sz="1600" dirty="0"/>
          </a:p>
        </p:txBody>
      </p:sp>
      <p:sp>
        <p:nvSpPr>
          <p:cNvPr id="10" name="Text 7"/>
          <p:cNvSpPr/>
          <p:nvPr/>
        </p:nvSpPr>
        <p:spPr>
          <a:xfrm>
            <a:off x="4833699" y="1680448"/>
            <a:ext cx="3588901" cy="1666875"/>
          </a:xfrm>
          <a:prstGeom prst="rect">
            <a:avLst/>
          </a:prstGeom>
          <a:noFill/>
          <a:ln/>
        </p:spPr>
        <p:txBody>
          <a:bodyPr wrap="square" lIns="0" tIns="0" rIns="0" bIns="0" rtlCol="0" anchor="t"/>
          <a:lstStyle/>
          <a:p>
            <a:pPr marL="0" indent="0" algn="l">
              <a:lnSpc>
                <a:spcPts val="2600"/>
              </a:lnSpc>
              <a:buNone/>
            </a:pPr>
            <a:r>
              <a:rPr lang="en-US" sz="1600" dirty="0">
                <a:solidFill>
                  <a:srgbClr val="2A2742"/>
                </a:solidFill>
                <a:latin typeface="Arimo" pitchFamily="34" charset="0"/>
                <a:ea typeface="Arimo" pitchFamily="34" charset="-122"/>
                <a:cs typeface="Arimo" pitchFamily="34" charset="-120"/>
              </a:rPr>
              <a:t>Our success will be measured by the accuracy of scraped data, the efficiency of the database design, and the usability and responsiveness of the Streamlit application's filters.</a:t>
            </a:r>
            <a:endParaRPr lang="en-US" sz="1600" dirty="0"/>
          </a:p>
        </p:txBody>
      </p:sp>
      <p:sp>
        <p:nvSpPr>
          <p:cNvPr id="11" name="Text 8"/>
          <p:cNvSpPr/>
          <p:nvPr/>
        </p:nvSpPr>
        <p:spPr>
          <a:xfrm>
            <a:off x="4833699" y="3534728"/>
            <a:ext cx="3588901" cy="1000125"/>
          </a:xfrm>
          <a:prstGeom prst="rect">
            <a:avLst/>
          </a:prstGeom>
          <a:noFill/>
          <a:ln/>
        </p:spPr>
        <p:txBody>
          <a:bodyPr wrap="square" lIns="0" tIns="0" rIns="0" bIns="0" rtlCol="0" anchor="t"/>
          <a:lstStyle/>
          <a:p>
            <a:pPr marL="0" indent="0" algn="l">
              <a:lnSpc>
                <a:spcPts val="2600"/>
              </a:lnSpc>
              <a:buNone/>
            </a:pPr>
            <a:r>
              <a:rPr lang="en-US" sz="1600" dirty="0">
                <a:solidFill>
                  <a:srgbClr val="2A2742"/>
                </a:solidFill>
                <a:latin typeface="Arimo" pitchFamily="34" charset="0"/>
                <a:ea typeface="Arimo" pitchFamily="34" charset="-122"/>
                <a:cs typeface="Arimo" pitchFamily="34" charset="-120"/>
              </a:rPr>
              <a:t>Code quality, adherence to PEP 8, and effective version control with Git are also crucial evaluation metrics.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19138"/>
            <a:ext cx="5429964"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Deliverables &amp; Next Steps</a:t>
            </a:r>
            <a:endParaRPr lang="en-US" sz="3550" dirty="0"/>
          </a:p>
        </p:txBody>
      </p:sp>
      <p:sp>
        <p:nvSpPr>
          <p:cNvPr id="4" name="Shape 1"/>
          <p:cNvSpPr/>
          <p:nvPr/>
        </p:nvSpPr>
        <p:spPr>
          <a:xfrm>
            <a:off x="6280190" y="1541264"/>
            <a:ext cx="7556421" cy="1322189"/>
          </a:xfrm>
          <a:prstGeom prst="roundRect">
            <a:avLst>
              <a:gd name="adj" fmla="val 7205"/>
            </a:avLst>
          </a:prstGeom>
          <a:solidFill>
            <a:srgbClr val="E9E6FA"/>
          </a:solidFill>
          <a:ln w="7620">
            <a:solidFill>
              <a:srgbClr val="BDB8DF"/>
            </a:solidFill>
            <a:prstDash val="solid"/>
          </a:ln>
        </p:spPr>
      </p:sp>
      <p:sp>
        <p:nvSpPr>
          <p:cNvPr id="5" name="Text 2"/>
          <p:cNvSpPr/>
          <p:nvPr/>
        </p:nvSpPr>
        <p:spPr>
          <a:xfrm>
            <a:off x="6514624" y="177569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Source Code</a:t>
            </a:r>
            <a:endParaRPr lang="en-US" sz="2200" dirty="0"/>
          </a:p>
        </p:txBody>
      </p:sp>
      <p:sp>
        <p:nvSpPr>
          <p:cNvPr id="6" name="Text 3"/>
          <p:cNvSpPr/>
          <p:nvPr/>
        </p:nvSpPr>
        <p:spPr>
          <a:xfrm>
            <a:off x="6514624" y="2266117"/>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Python scripts for scraping, database interaction, and Streamlit app.</a:t>
            </a:r>
            <a:endParaRPr lang="en-US" sz="1750" dirty="0"/>
          </a:p>
        </p:txBody>
      </p:sp>
      <p:sp>
        <p:nvSpPr>
          <p:cNvPr id="7" name="Shape 4"/>
          <p:cNvSpPr/>
          <p:nvPr/>
        </p:nvSpPr>
        <p:spPr>
          <a:xfrm>
            <a:off x="6280190" y="3090267"/>
            <a:ext cx="7556421" cy="1322189"/>
          </a:xfrm>
          <a:prstGeom prst="roundRect">
            <a:avLst>
              <a:gd name="adj" fmla="val 7205"/>
            </a:avLst>
          </a:prstGeom>
          <a:solidFill>
            <a:srgbClr val="E9E6FA"/>
          </a:solidFill>
          <a:ln w="7620">
            <a:solidFill>
              <a:srgbClr val="BDB8DF"/>
            </a:solidFill>
            <a:prstDash val="solid"/>
          </a:ln>
        </p:spPr>
      </p:sp>
      <p:sp>
        <p:nvSpPr>
          <p:cNvPr id="8" name="Text 5"/>
          <p:cNvSpPr/>
          <p:nvPr/>
        </p:nvSpPr>
        <p:spPr>
          <a:xfrm>
            <a:off x="6514624" y="332470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Documentation</a:t>
            </a:r>
            <a:endParaRPr lang="en-US" sz="2200" dirty="0"/>
          </a:p>
        </p:txBody>
      </p:sp>
      <p:sp>
        <p:nvSpPr>
          <p:cNvPr id="9" name="Text 6"/>
          <p:cNvSpPr/>
          <p:nvPr/>
        </p:nvSpPr>
        <p:spPr>
          <a:xfrm>
            <a:off x="6514624" y="3815120"/>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Detailed explanations for code, data collection, and application usage.</a:t>
            </a:r>
            <a:endParaRPr lang="en-US" sz="1750" dirty="0"/>
          </a:p>
        </p:txBody>
      </p:sp>
      <p:sp>
        <p:nvSpPr>
          <p:cNvPr id="10" name="Shape 7"/>
          <p:cNvSpPr/>
          <p:nvPr/>
        </p:nvSpPr>
        <p:spPr>
          <a:xfrm>
            <a:off x="6280190" y="4639270"/>
            <a:ext cx="7556421" cy="1322189"/>
          </a:xfrm>
          <a:prstGeom prst="roundRect">
            <a:avLst>
              <a:gd name="adj" fmla="val 7205"/>
            </a:avLst>
          </a:prstGeom>
          <a:solidFill>
            <a:srgbClr val="E9E6FA"/>
          </a:solidFill>
          <a:ln w="7620">
            <a:solidFill>
              <a:srgbClr val="BDB8DF"/>
            </a:solidFill>
            <a:prstDash val="solid"/>
          </a:ln>
        </p:spPr>
      </p:sp>
      <p:sp>
        <p:nvSpPr>
          <p:cNvPr id="11" name="Text 8"/>
          <p:cNvSpPr/>
          <p:nvPr/>
        </p:nvSpPr>
        <p:spPr>
          <a:xfrm>
            <a:off x="6514624" y="487370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Database Schema</a:t>
            </a:r>
            <a:endParaRPr lang="en-US" sz="2200" dirty="0"/>
          </a:p>
        </p:txBody>
      </p:sp>
      <p:sp>
        <p:nvSpPr>
          <p:cNvPr id="12" name="Text 9"/>
          <p:cNvSpPr/>
          <p:nvPr/>
        </p:nvSpPr>
        <p:spPr>
          <a:xfrm>
            <a:off x="6514624" y="5364123"/>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SQL scripts for creating and populating the bus_routes table.</a:t>
            </a:r>
            <a:endParaRPr lang="en-US" sz="1750" dirty="0"/>
          </a:p>
        </p:txBody>
      </p:sp>
      <p:sp>
        <p:nvSpPr>
          <p:cNvPr id="13" name="Shape 10"/>
          <p:cNvSpPr/>
          <p:nvPr/>
        </p:nvSpPr>
        <p:spPr>
          <a:xfrm>
            <a:off x="6280190" y="6188273"/>
            <a:ext cx="7556421" cy="1322189"/>
          </a:xfrm>
          <a:prstGeom prst="roundRect">
            <a:avLst>
              <a:gd name="adj" fmla="val 7205"/>
            </a:avLst>
          </a:prstGeom>
          <a:solidFill>
            <a:srgbClr val="E9E6FA"/>
          </a:solidFill>
          <a:ln w="7620">
            <a:solidFill>
              <a:srgbClr val="BDB8DF"/>
            </a:solidFill>
            <a:prstDash val="solid"/>
          </a:ln>
        </p:spPr>
      </p:sp>
      <p:sp>
        <p:nvSpPr>
          <p:cNvPr id="14" name="Text 11"/>
          <p:cNvSpPr/>
          <p:nvPr/>
        </p:nvSpPr>
        <p:spPr>
          <a:xfrm>
            <a:off x="6514624" y="6422708"/>
            <a:ext cx="2840236" cy="354330"/>
          </a:xfrm>
          <a:prstGeom prst="rect">
            <a:avLst/>
          </a:prstGeom>
          <a:noFill/>
          <a:ln/>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Streamlit Application</a:t>
            </a:r>
            <a:endParaRPr lang="en-US" sz="2200" dirty="0"/>
          </a:p>
        </p:txBody>
      </p:sp>
      <p:sp>
        <p:nvSpPr>
          <p:cNvPr id="15" name="Text 12"/>
          <p:cNvSpPr/>
          <p:nvPr/>
        </p:nvSpPr>
        <p:spPr>
          <a:xfrm>
            <a:off x="6514624" y="6913126"/>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Arimo" pitchFamily="34" charset="0"/>
                <a:ea typeface="Arimo" pitchFamily="34" charset="-122"/>
                <a:cs typeface="Arimo" pitchFamily="34" charset="-120"/>
              </a:rPr>
              <a:t>Screenshots/links showcasing interactive data filtering and analysis.</a:t>
            </a:r>
            <a:endParaRPr lang="en-US" sz="1750" dirty="0"/>
          </a:p>
        </p:txBody>
      </p:sp>
      <p:pic>
        <p:nvPicPr>
          <p:cNvPr id="17" name="Graphic 16" descr="Bus with solid fill">
            <a:extLst>
              <a:ext uri="{FF2B5EF4-FFF2-40B4-BE49-F238E27FC236}">
                <a16:creationId xmlns:a16="http://schemas.microsoft.com/office/drawing/2014/main" id="{FF159B3C-2712-95F5-3784-C3B741CBEC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87200" y="7102673"/>
            <a:ext cx="2743199" cy="15372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604</Words>
  <Application>Microsoft Office PowerPoint</Application>
  <PresentationFormat>Custom</PresentationFormat>
  <Paragraphs>67</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Outfit Extra Bold</vt:lpstr>
      <vt:lpstr>Arial</vt:lpstr>
      <vt:lpstr>Arimo Bold</vt:lpstr>
      <vt:lpstr>Arimo Medium</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santhana mariappan</cp:lastModifiedBy>
  <cp:revision>4</cp:revision>
  <dcterms:created xsi:type="dcterms:W3CDTF">2025-07-01T14:27:42Z</dcterms:created>
  <dcterms:modified xsi:type="dcterms:W3CDTF">2025-07-01T15:04:08Z</dcterms:modified>
</cp:coreProperties>
</file>